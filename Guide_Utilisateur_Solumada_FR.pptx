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9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D7A33">
              <a:alpha val="40000"/>
            </a:srgbClr>
          </a:solidFill>
          <a:ln w="12700">
            <a:solidFill>
              <a:srgbClr val="2D7A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5752" y="4114800"/>
            <a:ext cx="4572000" cy="4572000"/>
          </a:xfrm>
          <a:prstGeom prst="ellipse">
            <a:avLst/>
          </a:prstGeom>
          <a:solidFill>
            <a:srgbClr val="2D7A33">
              <a:alpha val="30000"/>
            </a:srgbClr>
          </a:solidFill>
          <a:ln w="12700">
            <a:solidFill>
              <a:srgbClr val="2D7A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94276" y="1280160"/>
            <a:ext cx="320040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https://www.solumada.mg/wp-content/uploads/2024/05/New-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22876" y="1417320"/>
            <a:ext cx="274320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d'utilisation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914400" y="37490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gestion du recrutement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RECRUTEMENT RH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21408"/>
            <a:ext cx="640080" cy="6400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21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0" y="2121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2148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121408"/>
            <a:ext cx="640080" cy="6400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121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0" y="2121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06640" y="2148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538728"/>
            <a:ext cx="640080" cy="6400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38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0" y="3538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37360" y="35661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d'emploi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32461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3538728"/>
            <a:ext cx="640080" cy="6400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538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0" y="3538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06640" y="35661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520" y="46634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956048"/>
            <a:ext cx="640080" cy="6400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956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0" y="4956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737360" y="4983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00800" y="46634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4956048"/>
            <a:ext cx="640080" cy="6400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956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972800" y="4956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406640" y="4983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7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828800"/>
            <a:ext cx="5486400" cy="5486400"/>
          </a:xfrm>
          <a:prstGeom prst="ellipse">
            <a:avLst/>
          </a:prstGeom>
          <a:solidFill>
            <a:srgbClr val="3E9143">
              <a:alpha val="30000"/>
            </a:srgbClr>
          </a:solidFill>
          <a:ln w="12700">
            <a:solidFill>
              <a:srgbClr val="3E91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 connecter et accéder à l'application.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à l'application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se fait via email + mot de passe. Le thème de l'interface s'adapte automatiquement à votre société.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l'URL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Saisir l'adresse de l'application dans le navigateur (Chrome, Edge, Firefox recommandés).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l'email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Email professionnel fourni lors de la création du compte.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 mot de passe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Mot de passe communiqué par votre administrateur.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"Connexion"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Vous êtes redirigé vers le tableau de bord.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Déconnexion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Via Paramètres → Se déconnecter, ou fermer le navigateur.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 </a:t>
            </a:r>
            <a:pPr indent="0" marL="0">
              <a:buNone/>
            </a:pPr>
            <a:r>
              <a:rPr lang="en-US" sz="1300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thème (vert Solumada ou bleu Optimum) est appliqué automatiquement selon votre compte — aucun réglage manuel nécessaire.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7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828800"/>
            <a:ext cx="5486400" cy="5486400"/>
          </a:xfrm>
          <a:prstGeom prst="ellipse">
            <a:avLst/>
          </a:prstGeom>
          <a:solidFill>
            <a:srgbClr val="3E9143">
              <a:alpha val="30000"/>
            </a:srgbClr>
          </a:solidFill>
          <a:ln w="12700">
            <a:solidFill>
              <a:srgbClr val="3E91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recrutement : KPI, rendez-vous et conformité.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Indicateurs clés (KPI)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cartes en haut du dashboard donnent une vue instantanée de l'activité.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actives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Nombre de postes ouverts. Cliquez pour aller à la liste des offres.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Total des dossiers reçus, tous statuts confondus.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Qualifiés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Candidats avec score ≥ 7 ou recommandation "QUALIFIE". Cliquez pour filtrer.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revoir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Candidats à score moyen (4-6) à évaluer manuellement.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 </a:t>
            </a:r>
            <a:pPr indent="0" marL="0">
              <a:buNone/>
            </a:pPr>
            <a:r>
              <a:rPr lang="en-US" sz="1300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carte est cliquable — un clic vous emmène directement sur la liste filtrée correspondante.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Suivi opérationnel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sections dédiées au pilotage quotidien : rendez-vous à venir et conformité RH Madagascar.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Prochains rendez-vous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Les 10 prochains entretiens, filtrés sur VOS offres uniquement (par email recruteur).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d'urgence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🔴 Auj. = aujourd'hui ; 🟡 J-X = dans X jours (≤ 3 jours).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Fuseaux horaires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Heure ajustée automatiquement : Solumada GMT+3, Optimum GMT+2 (si type_rdv non défini).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Madagascar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Offres approuvées par l'Inspection du Travail, candidats à appeler, tests convoqués/passés.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"Voir tous →"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Renvoie à la page Rendez-vous complète.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7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828800"/>
            <a:ext cx="5486400" cy="5486400"/>
          </a:xfrm>
          <a:prstGeom prst="ellipse">
            <a:avLst/>
          </a:prstGeom>
          <a:solidFill>
            <a:srgbClr val="3E9143">
              <a:alpha val="30000"/>
            </a:srgbClr>
          </a:solidFill>
          <a:ln w="12700">
            <a:solidFill>
              <a:srgbClr val="3E91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d'emploi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gestion et publication des postes à pourvoir.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— Liste et statuts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"Offres d'emploi" centralise tous les postes avec leur état actuel.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statuts possibles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Active (publiée) · Fermée (archivée) · En pause (suspendue temporairement).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Fermeture automatique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Toutes les heures, les offres dont la date butoire est dépassée passent à "Fermée".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candidatures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Chaque carte affiche le nombre de candidatures reçues.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rapides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Icônes Modifier (✏️), Exporter PDF (📄), Supprimer (🗑️) sur chaque carte.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"+ Nouvelle offre"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 haut à droite, ouvre le formulaire de création.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— Créer une offre (1/2)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Renseignez les informations principales du poste à pourvoir.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du poste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 : "Développeur Full-Stack" — visible publiquement.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complète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Missions, contexte, équipe. Champ libre, formatable.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requises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Liste séparée par virgules : utilisée par l'IA pour le scoring.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d'expérience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Minimum attendu pour le poste.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&amp; type de contrat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CDI / CDD / Stage / Freelance / Alternance + ville.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&amp; langues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Fourchette de rémunération + langues maîtrisées.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— Créer une offre (2/2)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avancés : automatisation, IA et planification.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d'automatisation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= full auto (emails IA) · B = analyse IA seule · C = saisie manuelle uniquement.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IA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Texte qui guide le scoring de Claude (critères prioritaires, drapeaux rouges).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requis (checkbox)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 coché, les emails de qualification ne partent QUE après convocation manuelle au test.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butoire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Date après laquelle l'offre passe en "Fermée". Laissez vide pour pas de limite.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cal.com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URL de prise de rendez-vous (ex : cal.com/rh-solumada/entretien-30min).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 </a:t>
            </a:r>
            <a:pPr indent="0" marL="0">
              <a:buNone/>
            </a:pPr>
            <a:r>
              <a:rPr lang="en-US" sz="1300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"📄 Exporter PDF" génère un document de publication avec le branding de votre société.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— Modifier, fermer, exporter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disponibles sur une offre existante via le détail (clic sur la carte).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Bouton ✏️ — ouvre le même formulaire qu'à la création, tous champs éditables.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 / Réactiver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 sélecteur de statut permet de basculer entre Active, En pause et Fermée.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en PDF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Bouton 📄 — ouvre une nouvelle fenêtre avec le document PDF brandé prêt à imprimer.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Bouton 🗑️ — demande confirmation. Action irréversible.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candidatures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Onglet "Candidatures" dans le détail de l'offre — liste filtrée sur cette offre.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Important : </a:t>
            </a:r>
            <a:pPr indent="0" marL="0">
              <a:buNone/>
            </a:pPr>
            <a:r>
              <a:rPr lang="en-US" sz="13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suppression d'une offre supprime aussi toutes les candidatures associées. Préférez la fermeture pour archiver.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— Candidatures &amp; actions en masse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détail d'une offre, l'onglet Candidatures permet de gérer plusieurs candidats à la fois.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sélection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Activez la case "Tout sélectionner" pour faire apparaître les checkboxes par candidat.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grisées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Désactivées si le candidat est en statut "Test convoqué" OU s'il n'a pas d'email.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multiple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Cochez plusieurs candidats puis utilisez les boutons d'action en masse.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disponibles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Qualifier en masse · Refuser en masse · Convoquer au test (si offre.test_requis).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envoyés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Chaque action déclenche l'envoi automatique de l'email correspondant à chaque candidat sélectionné.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7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828800"/>
            <a:ext cx="5486400" cy="5486400"/>
          </a:xfrm>
          <a:prstGeom prst="ellipse">
            <a:avLst/>
          </a:prstGeom>
          <a:solidFill>
            <a:srgbClr val="3E9143">
              <a:alpha val="30000"/>
            </a:srgbClr>
          </a:solidFill>
          <a:ln w="12700">
            <a:solidFill>
              <a:srgbClr val="3E91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et décisions sur les dossiers reçus.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— Liste et filtres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centrale pour tous les candidats reçus. Filtrage puissant et tri par pertinence.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recherche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Nom, email ou poste. Filtrage en temps réel.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déroulants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Recommandation IA · Offre · Canal (plateforme / téléphone / physique).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rapides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📞 À appeler · ⭐ Potentiels (candidats du vivier RH).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Tri par défaut : score décroissant puis date. Les meilleurs profils remontent.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Bouton 📥 — exporte la liste filtrée pour analyse externe.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30 candidats par page, navigation en bas du tableau.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 </a:t>
            </a:r>
            <a:pPr indent="0" marL="0">
              <a:buNone/>
            </a:pPr>
            <a:r>
              <a:rPr lang="en-US" sz="1300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filtre "⭐ Potentiels" affiche uniquement les candidats marqués via le toggle dans l'onglet Décision.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— Actions rapides en ligne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chaque ligne du tableau, des icônes permettent d'agir sans ouvrir le détail.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CV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Ouvre le CV du candidat dans un nouvel onglet (token JWT sécurisé).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Lettre de motivation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 fournie, ouvre la lettre dans un nouvel onglet.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Qualifier (vert)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Qualifie en un clic, envoie l'email d'invitation et passe le statut en "En cours".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Éliminer (rouge)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Refuse en un clic, envoie l'email de refus et passe le statut en "Refusé".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Relancer IA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Renvoie le CV au workflow n8n + Claude pour ré-analyse. Bloqué si pas de CV.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Supprimer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Supprime définitivement après confirmation.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— Onglet Analyse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détail d'un candidat s'ouvre sur 3 onglets. "Analyse" présente le résultat de l'évaluation 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IA (0-10)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Note globale calculée par Claude selon les compétences requises et les exigences IA de l'offre.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QUALIFIE (vert) · A_REVOIR (jaune) · NON_SELECTIONNE (rouge).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Adéquation au poste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Texte synthétique sur la correspondance candidat ↔ offre.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détectées / manquantes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Listes extraites du CV par l'IA, comparées aux requises.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 / faibles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Forces et axes d'amélioration identifiés par l'analyse.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de l'analyse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Synthèse rédigée de 3-5 lignes pour aider à la décision.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— Onglet Décision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toutes les actions de décision RH sur un candidat.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 (✅)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Statut → En cours · Envoie l'email d'invitation. n8n peut passer à "Entretien planifié" si automatisation.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revoir (🔄)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Statut → En cours · Aucun email automatique. Pour relecture manuelle.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Éliminer (❌)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Statut → Refusé · Envoie l'email de refus poli.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Convoquer au test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Disponible si offre.test_requis = true. Statut → Test convoqué + email.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Prise de RDV cal.com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Disponible si l'offre a un lien cal.com. Ouvre le sélecteur de créneau.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Vivier candidat potentiel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Toggle pour marquer le candidat à reconsidérer plus tard. Filtrable depuis la liste.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 </a:t>
            </a:r>
            <a:pPr indent="0" marL="0">
              <a:buNone/>
            </a:pPr>
            <a:r>
              <a:rPr lang="en-US" sz="1300" dirty="0">
                <a:solidFill>
                  <a:srgbClr val="2D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L'envoi d'email peut échouer silencieusement (config Gmail). Le statut en base de données est TOUJOURS mis à jour.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— Onglet Infos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personnelles, documents et suivi des communications.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éditables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Nom, email, téléphone. Bouton "💾 Enregistrer" pour valider.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CV manquant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 pas de CV, une zone d'upload apparaît : sélectionnez puis cliquez "⬆️ Uploader".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existants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Boutons "📄 Voir le CV" et "📝 Lettre" si disponibles.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candidature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Plateforme / Téléphone / Physique — identifie l'origine.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emails entretien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Dates d'envoi : invitation, relance 1, relance 2.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manuel confirmé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 un RDV est planifié, affiche date, heure, lieu et notes.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7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828800"/>
            <a:ext cx="5486400" cy="5486400"/>
          </a:xfrm>
          <a:prstGeom prst="ellipse">
            <a:avLst/>
          </a:prstGeom>
          <a:solidFill>
            <a:srgbClr val="3E9143">
              <a:alpha val="30000"/>
            </a:srgbClr>
          </a:solidFill>
          <a:ln w="12700">
            <a:solidFill>
              <a:srgbClr val="3E91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et suivi des entretiens à venir.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— Page dédiée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chronologique de tous les entretiens à venir avec filtres puissants.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de période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Tout · Cette semaine · Ce mois · Prochain mois — chips en haut de page.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"👤 Mes RDV"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Restreint aux RDV des offres dont vous êtes recruteur (par email).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d'urgence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🔴 Aujourd'hui (&lt; 24h) · 🟡 J-X (&lt; 72h) sur chaque carte.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RDV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🖥 Visio · 🤝 Présentiel — badge indiquant le mode d'entretien.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fuseaux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 type_rdv non défini : heure ajustée auto (Solumada GMT+3, Optimum GMT+2).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sur une carte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Ouvre le détail du candidat associé pour préparer l'entretien.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— Journal d'audit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actions effectuées dans l'application sont tracées pour la traçabilité.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enregistrées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Connexion · Création/modification/suppression offre · Décisions candidat · Envois d'emails · Upload CV.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conservées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Utilisateur · Action · Entité · Date/heure · Détails contextuels.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Par utilisateur, par type d'action, par période.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RGPD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Sert à prouver la traçabilité des décisions sur les données candidats.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Les entrées sont conservées indéfiniment (sauf purge manuelle administrateur).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— Gestion des accès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aux administrateurs. Création et gestion des comptes recruteurs.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utilisateurs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Tableau de tous les comptes : nom, email, rôle, dernière connexion.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Bouton "+ Nouvel utilisateur" — saisir nom, email, mot de passe initial, société.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Éditer le nom et changer le rôle (admin / recruteur).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 compte ne peut plus se connecter mais reste dans l'historique.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mot de passe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Bouton dédié — génère un nouveau mot de passe à transmettre.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Important : </a:t>
            </a:r>
            <a:pPr indent="0" marL="0">
              <a:buNone/>
            </a:pPr>
            <a:r>
              <a:rPr lang="en-US" sz="13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email ne peut être utilisé que par un seul compte. La société est figée à la création (Solumada ou Optimum).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— Profil personnel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accessible via votre avatar dans le sidebar.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 nom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Champ "Nom complet" éditable, sauvegardé via "💾 Enregistrer".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le mot de passe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Saisir l'ancien + le nouveau (au moins 8 caractères).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Détermine par votre société : vert Solumada ou bleu Optimum. Non modifiable manuellement.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Affiché en lecture seule. Pour le changer, contacter un administrateur.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Déconnexion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Bouton en bas de la page — supprime le token et redirige vers /login.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&amp; bonnes pratiques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pour un usage efficace au quotidien.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score IA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Ne pas qualifier mécaniquement sur le score : lire les points faibles et l'adéquation.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uploader un CV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Sans CV, l'IA ne peut pas analyser. Si le candidat l'envoie plus tard, utilisez l'upload depuis Infos.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vivier ⭐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Marquez les candidats prometteurs hors offre — vous les retrouverez via le filtre Potentiels.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Convoquer au test avant de qualifier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Sur offres avec test_requis : convoquer d'abord, puis qualifier après évaluation du test.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en PDF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Pour partager l'offre via WhatsApp ou email externe — branding société automatique.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Contactez votre administrateur ou developers@solumadateam.com en cas de problème.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3E9143"/>
          </a:solidFill>
          <a:ln w="12700">
            <a:solidFill>
              <a:srgbClr val="3E91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Solumada · Guide d'utilisation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Solumada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Solumada · Guide d'utilisation</dc:title>
  <dc:subject>PptxGenJS Presentation</dc:subject>
  <dc:creator>Solumada</dc:creator>
  <cp:lastModifiedBy>Solumada</cp:lastModifiedBy>
  <cp:revision>1</cp:revision>
  <dcterms:created xsi:type="dcterms:W3CDTF">2026-05-22T12:18:00Z</dcterms:created>
  <dcterms:modified xsi:type="dcterms:W3CDTF">2026-05-22T12:18:00Z</dcterms:modified>
</cp:coreProperties>
</file>